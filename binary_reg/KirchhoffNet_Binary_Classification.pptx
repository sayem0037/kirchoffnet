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</a:rPr>
              <a:t>KirchhoffNet Binary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3C2B7"/>
                </a:solidFill>
                <a:latin typeface="Segoe UI"/>
              </a:rPr>
              <a:t>A physical neural network built from a SPICE circuit — trained with the simulator's own adjoint sensitivity, no PyTorch, no backprop library, no grid 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98781"/>
                </a:solidFill>
              </a:rPr>
              <a:t>binary_reg/  |  KirchhoffNet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"/>
              </a:rPr>
              <a:t>The Big Idea: Circuits as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- Traditional Neural Network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   - y = activation(W . x + b)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   - Gradients via backpropagation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   - (chain rule through layers)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   - Runs on GPU matrix multiplications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8872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- KirchhoffNet (this project)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   - Input -&gt; starting voltage on 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   - capacitor (initial condition)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   - Computation -&gt; the circuit's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   - transient response over time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   - Output -&gt; voltage at node net4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   - at the final time step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   - Weights -&gt; DC bias voltage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   - sources (gate biases)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   - Gradient -&gt; adjoint sensitivity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   - from the SPICE 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532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Segoe UI"/>
              </a:rPr>
              <a:t>The physics of the circuit IS the computation — Kirchhoff's Current Law enforces the math. Hence "KirchhoffNet."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514E"/>
                </a:solidFill>
              </a:rPr>
              <a:t>Section 2 — The Big Idea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"/>
              </a:rPr>
              <a:t>The Circuit: A Ring of 4 Differential Amplifiers</a:t>
            </a:r>
          </a:p>
        </p:txBody>
      </p:sp>
      <p:pic>
        <p:nvPicPr>
          <p:cNvPr id="5" name="Picture 4" descr="ring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184" y="1097280"/>
            <a:ext cx="9217152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514E"/>
                </a:solidFill>
              </a:rPr>
              <a:t>Section 3 — Circuit Topology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"/>
              </a:rPr>
              <a:t>One Block: Differential-Pair Inverter Stage</a:t>
            </a:r>
          </a:p>
        </p:txBody>
      </p:sp>
      <p:pic>
        <p:nvPicPr>
          <p:cNvPr id="5" name="Picture 4" descr="block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521208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18872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- How it inverts: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   - Dummy NMOS gate fixed at VN = 1.0V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   - Signal NMOS gate driven by previous node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   - net_in &gt; VN -&gt; signal branch wins -&gt; output pulled LOW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   - net_in &lt; VN -&gt; dummy branch wins -&gt; output pulled HIGH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   - One stage = one inverter relative to VN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3794760"/>
          <a:ext cx="521207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3243"/>
                <a:gridCol w="1579418"/>
                <a:gridCol w="1579418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NMOS (NCH)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PMOS (PCH)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</a:rPr>
                        <a:t>Threshold VTO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</a:rPr>
                        <a:t>0.531 V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</a:rPr>
                        <a:t>-0.71 V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</a:rPr>
                        <a:t>Process gain KP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</a:rPr>
                        <a:t>120 uA/V2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</a:rPr>
                        <a:t>40 uA/V2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</a:rPr>
                        <a:t>Channel modulation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</a:rPr>
                        <a:t>0.02 V-1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</a:rPr>
                        <a:t>0.02 V-1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53949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Timing: 0.1pF cap per node -&gt; tau = R*C = 100ns. Diagnostics run to 100ns; final evaluation runs to 1us (10 tau) to guarantee full latch.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514E"/>
                </a:solidFill>
              </a:rPr>
              <a:t>Section 3 — Circuit Topology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"/>
              </a:rPr>
              <a:t>8 Circuit Parameters — Only 1 Is Trained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188720"/>
          <a:ext cx="658367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873"/>
                <a:gridCol w="3291840"/>
                <a:gridCol w="1139483"/>
                <a:gridCol w="1139483"/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Init (V)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Trained?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</a:rPr>
                        <a:t>V5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PMOS gate bias, Block A (theta1)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1.7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</a:rPr>
                        <a:t>V4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PMOS gate bias, Block B (theta2)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</a:rPr>
                        <a:t>V3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PMOS gate bias, Block C (theta3)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1.7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</a:rPr>
                        <a:t>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PMOS gate bias, Block D (theta4)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</a:rPr>
                        <a:t>VB1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Tail NMOS bias, Block A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0.8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</a:rPr>
                        <a:t>VB2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Tail NMOS bias, Block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</a:rPr>
                        <a:t>VB3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Tail NMOS bias, Block C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0.8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B0B0B"/>
                          </a:solidFill>
                        </a:rPr>
                        <a:t>VB4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Tail NMOS bias, Block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B0B0B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128016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- Why only V2?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   - V2 controls the PMOS load strength in Block D — the block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   - that reads the classification input IC(net3) and drives net4.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   - Lowering V2 -&gt; stronger PMOS -&gt; can override the NMOS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   - differential even when IC(net3) is slightly above VN.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   - This shifts the decision threshold from 1.0V toward 1.2V.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   - Blocks A/B/C sustain the feedback loop, not the threshold.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   - VBx changes affect the whole ring's time constant, risking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   - failure to latch within tstop — so they stay fixed.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514E"/>
                </a:solidFill>
              </a:rPr>
              <a:t>Section 3 — 8 Trainable Parameters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"/>
              </a:rPr>
              <a:t>The Dataset: 10 Samples, Binary Classification</a:t>
            </a:r>
          </a:p>
        </p:txBody>
      </p:sp>
      <p:pic>
        <p:nvPicPr>
          <p:cNvPr id="5" name="Picture 4" descr="datase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08176"/>
            <a:ext cx="6949440" cy="3127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18872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- Input encoding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   - IC(net3) is the sole classification feature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   - Set as capacitor initial condition: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      - .IC V(net3) = 1.1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- The other 3 ring nodes (net4, net6, net2)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   - are NOT inputs — they're biased toward the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   - target attractor to help the ring latch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   - correctly (see next slide).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5 HIGH-class samples (IC &lt; 1.2V, target 3.3V)  +  5 LOW-class samples (IC &gt; 1.2V, target 0.3V).  Boundary = 1.2V.  Sample IC=1.1V is the hardest (closest to the boundary).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514E"/>
                </a:solidFill>
              </a:rPr>
              <a:t>Section 4 — The Dataset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"/>
              </a:rPr>
              <a:t>The Metastable Trap — and How We Escaped It</a:t>
            </a:r>
          </a:p>
        </p:txBody>
      </p:sp>
      <p:pic>
        <p:nvPicPr>
          <p:cNvPr id="5" name="Picture 4" descr="metastable_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331" y="1005840"/>
            <a:ext cx="8490857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709160"/>
            <a:ext cx="10789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- Problem: with all ring nodes starting at the neutral VN=1.0V, 7 of 10 samples got permanently stuck near 1.2V — R² capped at 0.428, no matter how long the simulation ran.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- Root cause: a signal at net3 must travel Block D -&gt; A -&gt; B -&gt; C before reinforcing itself. Blocks A/B/C see IC=VN (perfectly balanced) and amplify nothing — the perturbation dies before completing one loop.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- Fix: start the other 3 ring nodes near their target-class attractor instead of at the neutral midpoint. This gives the ring a strong initial slope, and the feedback loop fires immediately. R² jumped from 0.428 -&gt; 0.998 before any training even began.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514E"/>
                </a:solidFill>
              </a:rPr>
              <a:t>Section 6 — The Metastable Trap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"/>
              </a:rPr>
              <a:t>How the Circuit Classifies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- Forward pass (one sample)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   - 1. Write a SPICE netlist with current params + sample ICs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   - 2. Run transient simulation (100ns train / 1us eval)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   - 3. Read V(net4) at the final time step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   - 4. That voltage is the circuit's prediction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   - V(net4) ~ 3.3V -&gt; predicted HIGH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   - V(net4) ~ 0.4V -&gt; predicted 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43000"/>
            <a:ext cx="5120640" cy="3291840"/>
          </a:xfrm>
          <a:prstGeom prst="roundRect">
            <a:avLst/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/>
            <a:r>
              <a:rPr sz="1400">
                <a:solidFill>
                  <a:srgbClr val="0B0B0B"/>
                </a:solidFill>
                <a:latin typeface="Consolas"/>
              </a:rPr>
              <a:t>IC(net3) &lt; 1.0V:</a:t>
            </a:r>
          </a:p>
          <a:p>
            <a:r>
              <a:rPr sz="1400">
                <a:solidFill>
                  <a:srgbClr val="0B0B0B"/>
                </a:solidFill>
                <a:latin typeface="Consolas"/>
              </a:rPr>
              <a:t>  signal NMOS weaker than dummy</a:t>
            </a:r>
          </a:p>
          <a:p>
            <a:r>
              <a:rPr sz="1400">
                <a:solidFill>
                  <a:srgbClr val="0B0B0B"/>
                </a:solidFill>
                <a:latin typeface="Consolas"/>
              </a:rPr>
              <a:t>  -&gt; PMOS load wins -&gt; net4 -&gt; HIGH</a:t>
            </a:r>
          </a:p>
          <a:p>
            <a:r>
              <a:rPr sz="1400">
                <a:solidFill>
                  <a:srgbClr val="0B0B0B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0B0B0B"/>
                </a:solidFill>
                <a:latin typeface="Consolas"/>
              </a:rPr>
              <a:t>IC(net3) &gt; 1.0V:</a:t>
            </a:r>
          </a:p>
          <a:p>
            <a:r>
              <a:rPr sz="1400">
                <a:solidFill>
                  <a:srgbClr val="0B0B0B"/>
                </a:solidFill>
                <a:latin typeface="Consolas"/>
              </a:rPr>
              <a:t>  signal NMOS stronger than dummy</a:t>
            </a:r>
          </a:p>
          <a:p>
            <a:r>
              <a:rPr sz="1400">
                <a:solidFill>
                  <a:srgbClr val="0B0B0B"/>
                </a:solidFill>
                <a:latin typeface="Consolas"/>
              </a:rPr>
              <a:t>  -&gt; NMOS wins -&gt; net4 -&gt; LOW</a:t>
            </a:r>
          </a:p>
          <a:p>
            <a:r>
              <a:rPr sz="1400">
                <a:solidFill>
                  <a:srgbClr val="0B0B0B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0B0B0B"/>
                </a:solidFill>
                <a:latin typeface="Consolas"/>
              </a:rPr>
              <a:t>Training moves this threshold</a:t>
            </a:r>
          </a:p>
          <a:p>
            <a:r>
              <a:rPr sz="1400">
                <a:solidFill>
                  <a:srgbClr val="0B0B0B"/>
                </a:solidFill>
                <a:latin typeface="Consolas"/>
              </a:rPr>
              <a:t>from 1.0V toward 1.2V by shifting V2.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0916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B0B0B"/>
                </a:solidFill>
                <a:latin typeface="Segoe UI"/>
              </a:rPr>
              <a:t>The R2 metric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074920"/>
            <a:ext cx="10789920" cy="1371600"/>
          </a:xfrm>
          <a:prstGeom prst="roundRect">
            <a:avLst/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/>
            <a:r>
              <a:rPr sz="1400">
                <a:solidFill>
                  <a:srgbClr val="0B0B0B"/>
                </a:solidFill>
                <a:latin typeface="Consolas"/>
              </a:rPr>
              <a:t>R2 = 1 - SS_res / SS_tot</a:t>
            </a:r>
          </a:p>
          <a:p>
            <a:r>
              <a:rPr sz="1400">
                <a:solidFill>
                  <a:srgbClr val="0B0B0B"/>
                </a:solidFill>
                <a:latin typeface="Consolas"/>
              </a:rPr>
              <a:t>SS_res = sum( (predicted - target)^2 )     SS_tot = sum( (target - mean(target))^2 )</a:t>
            </a:r>
          </a:p>
          <a:p>
            <a:r>
              <a:rPr sz="1400">
                <a:solidFill>
                  <a:srgbClr val="0B0B0B"/>
                </a:solidFill>
                <a:latin typeface="Consolas"/>
              </a:rPr>
              <a:t>All 10 samples correct  -&gt;  R2 ~ 0.998   (LOW attractor sits at ~0.4V, not exactly 0.3V)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514E"/>
                </a:solidFill>
              </a:rPr>
              <a:t>Section 5 — How the Circuit Classifies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"/>
              </a:rPr>
              <a:t>Training: Teacher-Student with Adjoint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We can't backprop through a SPICE simulator like PyTorch does. Instead we use the simulator's built-in adjoint engine to get dV(net4)/dV2 directly, inside a teacher-student framework: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2651760"/>
          <a:ext cx="9418319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848"/>
                <a:gridCol w="2598157"/>
                <a:gridCol w="5196314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V2 value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B0B0B"/>
                          </a:solidFill>
                        </a:rPr>
                        <a:t>Student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</a:rPr>
                        <a:t>starts at 1.70V (trainable)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</a:rPr>
                        <a:t>Circuit being trained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B0B0B"/>
                          </a:solidFill>
                        </a:rPr>
                        <a:t>Teacher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</a:rPr>
                        <a:t>fixed at 1.60V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B0B0B"/>
                          </a:solidFill>
                        </a:rPr>
                        <a:t>Proxy target — stronger PMOS in Block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11480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- Why train at 10ns but evaluate at 1us?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   - At t=10ns (1/10 of tau): ring still transient, capacitors charging.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   - dV(net4,10ns)/dV2 is large and meaningful for every sample.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   - At t=1us (10x tau): ring fully latched to a binary attractor.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   - This is the real classification output — used only for R2 evaluation.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   - Training directly at 1us would give near-zero gradients (already decided).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514E"/>
                </a:solidFill>
              </a:rPr>
              <a:t>Section 7 — Training Strategy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"/>
              </a:rPr>
              <a:t>The Math Behind the Update Rule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10789920" cy="1188720"/>
          </a:xfrm>
          <a:prstGeom prst="roundRect">
            <a:avLst/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/>
            <a:r>
              <a:rPr sz="1500">
                <a:solidFill>
                  <a:srgbClr val="0B0B0B"/>
                </a:solidFill>
                <a:latin typeface="Consolas"/>
              </a:rPr>
              <a:t>Loss (MSE vs teacher @ 10ns):   MSE = (1/N) * sum_i ( v_student(x_i,10ns) - v_teacher(x_i,10ns) )^2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14600"/>
            <a:ext cx="10789920" cy="1371600"/>
          </a:xfrm>
          <a:prstGeom prst="roundRect">
            <a:avLst/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/>
            <a:r>
              <a:rPr sz="1500">
                <a:solidFill>
                  <a:srgbClr val="0B0B0B"/>
                </a:solidFill>
                <a:latin typeface="Consolas"/>
              </a:rPr>
              <a:t>Gradient:   dMSE/dV2 = (2/N) * sum_i ( error_i * sens_V2_i )</a:t>
            </a:r>
          </a:p>
          <a:p>
            <a:r>
              <a:rPr sz="1500">
                <a:solidFill>
                  <a:srgbClr val="0B0B0B"/>
                </a:solidFill>
                <a:latin typeface="Consolas"/>
              </a:rPr>
              <a:t>            sens_V2_i = dV(net4,t_final)/dV2   &lt;- exactly the simulator's adjoint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023360"/>
            <a:ext cx="10789920" cy="1005840"/>
          </a:xfrm>
          <a:prstGeom prst="roundRect">
            <a:avLst/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/>
            <a:r>
              <a:rPr sz="1600">
                <a:solidFill>
                  <a:srgbClr val="0B0B0B"/>
                </a:solidFill>
                <a:latin typeface="Consolas"/>
              </a:rPr>
              <a:t>Update (sign-SGD, fixed step):   V2_new = V2_old - LR * sign(g_V2)      LR = 0.001 V/epoch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2578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Why sign-SGD instead of a full gradient step? Sensitivity magnitude varies enormously across samples (~1e-3 near saturation to ~1e-8 already-saturated) — a raw gradient step would be dominated by whichever sample has the largest sensitivity. Sign-SGD is scale-invariant and is the simplest possible descent rule: one direction, one fixed step, no optimizer 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514E"/>
                </a:solidFill>
              </a:rPr>
              <a:t>Section 8 — The Math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"/>
              </a:rPr>
              <a:t>What Is Adjoint Sensitivity?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- Forward problem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   - Given circuit parameters + initial conditions, solve for V(t) at every node (standard SPICE transient simulation).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- Sensitivity problem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   - How does the output V(net4, t_final) change if we nudge one parameter (e.g. V2) by a tiny amount? Naively this means re-running the whole simulation once per parameter (finite differences) — slow and numerically noisy.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- The adjoint method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   - Solves one extra, backward-in-time linear system (using the same Jacobian factorization as the forward pass) to get exact derivatives d(output)/d(every parameter) simultaneously — no matter how many parameters exist, at roughly the cost of one extra forward-like solve.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   - This is the circuit-domain equivalent of backpropagation, computed by the simulator itself rather than by an ML framework.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514E"/>
                </a:solidFill>
              </a:rPr>
              <a:t>Section 9 — Adjoint Sensitivity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"/>
              </a:rPr>
              <a:t>The Training Loop (One Epoch)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188720"/>
            <a:ext cx="9966960" cy="5120640"/>
          </a:xfrm>
          <a:prstGeom prst="roundRect">
            <a:avLst/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/>
            <a:r>
              <a:rPr sz="1600">
                <a:solidFill>
                  <a:srgbClr val="0B0B0B"/>
                </a:solidFill>
                <a:latin typeface="Consolas"/>
              </a:rPr>
              <a:t>for each of the 10 samples:</a:t>
            </a:r>
          </a:p>
          <a:p>
            <a:r>
              <a:rPr sz="1600">
                <a:solidFill>
                  <a:srgbClr val="0B0B0B"/>
                </a:solidFill>
                <a:latin typeface="Consolas"/>
              </a:rPr>
              <a:t>    1. write a SPICE netlist with current student params + sample ICs</a:t>
            </a:r>
          </a:p>
          <a:p>
            <a:r>
              <a:rPr sz="1600">
                <a:solidFill>
                  <a:srgbClr val="0B0B0B"/>
                </a:solidFill>
                <a:latin typeface="Consolas"/>
              </a:rPr>
              <a:t>    2. run transient simulation to t = 10 ns  WITH sensitivity=True</a:t>
            </a:r>
          </a:p>
          <a:p>
            <a:r>
              <a:rPr sz="1600">
                <a:solidFill>
                  <a:srgbClr val="0B0B0B"/>
                </a:solidFill>
                <a:latin typeface="Consolas"/>
              </a:rPr>
              <a:t>    3. read v_pred    = V(net4, 10ns)</a:t>
            </a:r>
          </a:p>
          <a:p>
            <a:r>
              <a:rPr sz="1600">
                <a:solidFill>
                  <a:srgbClr val="0B0B0B"/>
                </a:solidFill>
                <a:latin typeface="Consolas"/>
              </a:rPr>
              <a:t>    4. read sens_V2   = dV(net4, 10ns) / dV2      &lt;- from the adjoint engine</a:t>
            </a:r>
          </a:p>
          <a:p>
            <a:r>
              <a:rPr sz="1600">
                <a:solidFill>
                  <a:srgbClr val="0B0B0B"/>
                </a:solidFill>
                <a:latin typeface="Consolas"/>
              </a:rPr>
              <a:t>    5. error_i        = v_pred - teacher_target_i</a:t>
            </a:r>
          </a:p>
          <a:p>
            <a:r>
              <a:rPr sz="1600">
                <a:solidFill>
                  <a:srgbClr val="0B0B0B"/>
                </a:solidFill>
                <a:latin typeface="Consolas"/>
              </a:rPr>
              <a:t>    6. accumulate:  g_V2 += error_i * sens_V2_i</a:t>
            </a:r>
          </a:p>
          <a:p>
            <a:r>
              <a:rPr sz="1600">
                <a:solidFill>
                  <a:srgbClr val="0B0B0B"/>
                </a:solidFill>
                <a:latin typeface="Consolas"/>
              </a:rPr>
              <a:t/>
            </a:r>
          </a:p>
          <a:p>
            <a:r>
              <a:rPr sz="1600">
                <a:solidFill>
                  <a:srgbClr val="0B0B0B"/>
                </a:solidFill>
                <a:latin typeface="Consolas"/>
              </a:rPr>
              <a:t>g_V2 /= 10                              # average over all 10 samples</a:t>
            </a:r>
          </a:p>
          <a:p>
            <a:r>
              <a:rPr sz="1600">
                <a:solidFill>
                  <a:srgbClr val="0B0B0B"/>
                </a:solidFill>
                <a:latin typeface="Consolas"/>
              </a:rPr>
              <a:t/>
            </a:r>
          </a:p>
          <a:p>
            <a:r>
              <a:rPr sz="1600">
                <a:solidFill>
                  <a:srgbClr val="0B0B0B"/>
                </a:solidFill>
                <a:latin typeface="Consolas"/>
              </a:rPr>
              <a:t>V2_new = V2_old - LR * sign(g_V2)       # LR = 0.001 V per epoch</a:t>
            </a:r>
          </a:p>
          <a:p>
            <a:r>
              <a:rPr sz="1600">
                <a:solidFill>
                  <a:srgbClr val="0B0B0B"/>
                </a:solidFill>
                <a:latin typeface="Consolas"/>
              </a:rPr>
              <a:t/>
            </a:r>
          </a:p>
          <a:p>
            <a:r>
              <a:rPr sz="1600">
                <a:solidFill>
                  <a:srgbClr val="0B0B0B"/>
                </a:solidFill>
                <a:latin typeface="Consolas"/>
              </a:rPr>
              <a:t># then, forward-only (no sensitivity -- faster):</a:t>
            </a:r>
          </a:p>
          <a:p>
            <a:r>
              <a:rPr sz="1600">
                <a:solidFill>
                  <a:srgbClr val="0B0B0B"/>
                </a:solidFill>
                <a:latin typeface="Consolas"/>
              </a:rPr>
              <a:t>evaluate R2 at t = 1 us  vs the true binary labels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514E"/>
                </a:solidFill>
              </a:rPr>
              <a:t>Section 7 — Training Loop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"/>
              </a:rPr>
              <a:t>Results</a:t>
            </a:r>
          </a:p>
        </p:txBody>
      </p:sp>
      <p:pic>
        <p:nvPicPr>
          <p:cNvPr id="5" name="Picture 4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045" y="960120"/>
            <a:ext cx="4970870" cy="55778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89520" y="1188720"/>
          <a:ext cx="4023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60"/>
                <a:gridCol w="1117600"/>
                <a:gridCol w="1117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Epoch 1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Epoch 43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</a:rPr>
                        <a:t>Train MSE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</a:rPr>
                        <a:t>4.230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</a:rPr>
                        <a:t>R2 (vs labels)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</a:rPr>
                        <a:t>0.9979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</a:rPr>
                        <a:t>0.9931*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</a:rPr>
                        <a:t>V2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</a:rPr>
                        <a:t>1.699 V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</a:rPr>
                        <a:t>1.659 V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2880360"/>
            <a:ext cx="4023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- 43 epochs to converge (MSE &lt; 1e-4 stop)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- Best R2 = 0.9979 (99.8% accuracy)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- All 10 samples classified correctly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- *Brief dip at epoch 42: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   - V2 crosses the bifurcation point;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   - one boundary sample briefly flips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   - state, R2 dips to 0, then resolves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   - back to 0.998 by epoch 43.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   - Expected circuit behavior at 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   - bifurcation — not a training bug.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514E"/>
                </a:solidFill>
              </a:rPr>
              <a:t>Section 12 — Results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"/>
              </a:rPr>
              <a:t>Design Decisions 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- Why only train V2, not all 8 parameters?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   - V2 shifts Block D's threshold without affecting the ring's time constants; VBx changes affect slew rate ring-wide and risk failure to latch.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- Why teacher V2 = 1.60V?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   - 0.10V lower than student init (1.70V) — a meaningfully stronger PMOS, still within safe operating range.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- Why LR = 0.001V per epoch?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   - The threshold window is ~0.1V wide, so ~40 epochs is reasonable. A larger LR (0.005V) was tested and overshot the bifurcation point in one step, crashing R2 from 0.43 to -0.50.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- Why not Adam or another adaptive optimizer?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   - Explicit requirement: the simplest training method possible. Sign-SGD with a fixed step has no momentum, no schedule, no optimizer state — and it works reliably for this circuit.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514E"/>
                </a:solidFill>
              </a:rPr>
              <a:t>Section 13 — Design Decisions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>
                <a:solidFill>
                  <a:srgbClr val="FFFFFF"/>
                </a:solidFill>
                <a:latin typeface="Segoe UI"/>
              </a:rPr>
              <a:t>-&gt; A real SPICE circuit can be trained as a classifier using only the simulator's adjoint sensitivity — no ML framework needed.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FFFFFF"/>
                </a:solidFill>
                <a:latin typeface="Segoe UI"/>
              </a:rPr>
              <a:t>-&gt; Circuit topology matters: a 4-stage ring is inherently bistable (positive feedback); this is a feature for classification, not a bug.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FFFFFF"/>
                </a:solidFill>
                <a:latin typeface="Segoe UI"/>
              </a:rPr>
              <a:t>-&gt; Initial conditions can trap a system in a metastable state — class-consistent ICs fixed this project's R2 ceiling of 0.428 instantly.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FFFFFF"/>
                </a:solidFill>
                <a:latin typeface="Segoe UI"/>
              </a:rPr>
              <a:t>-&gt; The simplest possible optimizer (fixed-step sign-SGD on a single, well-chosen parameter) reliably reached R2 = 0.998 in 43 epochs.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FFFFFF"/>
                </a:solidFill>
                <a:latin typeface="Segoe UI"/>
              </a:rPr>
              <a:t>-&gt; Training and evaluation don't have to happen at the same simulated time — short-time transients give gradient signal; long-time settling gives ground truth.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2514E"/>
                </a:solidFill>
              </a:rPr>
              <a:t>KirchhoffNet Binary Classification — binary_reg/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