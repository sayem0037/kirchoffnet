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3" r:id="rId9"/>
    <p:sldId id="266" r:id="rId10"/>
    <p:sldId id="267" r:id="rId11"/>
    <p:sldId id="268" r:id="rId12"/>
    <p:sldId id="270" r:id="rId13"/>
    <p:sldId id="271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yem, Ahmad Sayeed" userId="952e2f6b-3595-4e7a-92b7-2a70dcd1038f" providerId="ADAL" clId="{E25A74E2-A083-48AA-A385-426F3B748287}"/>
    <pc:docChg chg="custSel addSld modSld">
      <pc:chgData name="Sayem, Ahmad Sayeed" userId="952e2f6b-3595-4e7a-92b7-2a70dcd1038f" providerId="ADAL" clId="{E25A74E2-A083-48AA-A385-426F3B748287}" dt="2026-10-12T18:51:08.277" v="113" actId="20577"/>
      <pc:docMkLst>
        <pc:docMk/>
      </pc:docMkLst>
      <pc:sldChg chg="addSp delSp modSp new mod">
        <pc:chgData name="Sayem, Ahmad Sayeed" userId="952e2f6b-3595-4e7a-92b7-2a70dcd1038f" providerId="ADAL" clId="{E25A74E2-A083-48AA-A385-426F3B748287}" dt="2026-10-12T18:30:57.893" v="19" actId="931"/>
        <pc:sldMkLst>
          <pc:docMk/>
          <pc:sldMk cId="3857088693" sldId="267"/>
        </pc:sldMkLst>
        <pc:spChg chg="add del mod">
          <ac:chgData name="Sayem, Ahmad Sayeed" userId="952e2f6b-3595-4e7a-92b7-2a70dcd1038f" providerId="ADAL" clId="{E25A74E2-A083-48AA-A385-426F3B748287}" dt="2026-10-12T18:30:09.592" v="18" actId="478"/>
          <ac:spMkLst>
            <pc:docMk/>
            <pc:sldMk cId="3857088693" sldId="267"/>
            <ac:spMk id="3" creationId="{3A4122CE-DCFB-F19B-091F-067EF620573A}"/>
          </ac:spMkLst>
        </pc:spChg>
        <pc:picChg chg="add mod">
          <ac:chgData name="Sayem, Ahmad Sayeed" userId="952e2f6b-3595-4e7a-92b7-2a70dcd1038f" providerId="ADAL" clId="{E25A74E2-A083-48AA-A385-426F3B748287}" dt="2026-10-12T18:30:57.893" v="19" actId="931"/>
          <ac:picMkLst>
            <pc:docMk/>
            <pc:sldMk cId="3857088693" sldId="267"/>
            <ac:picMk id="5" creationId="{7422496D-9193-F3D3-E601-502CEEF4956B}"/>
          </ac:picMkLst>
        </pc:picChg>
      </pc:sldChg>
      <pc:sldChg chg="addSp modSp new mod">
        <pc:chgData name="Sayem, Ahmad Sayeed" userId="952e2f6b-3595-4e7a-92b7-2a70dcd1038f" providerId="ADAL" clId="{E25A74E2-A083-48AA-A385-426F3B748287}" dt="2026-10-12T18:31:20.972" v="21" actId="931"/>
        <pc:sldMkLst>
          <pc:docMk/>
          <pc:sldMk cId="1507028120" sldId="268"/>
        </pc:sldMkLst>
        <pc:picChg chg="add mod">
          <ac:chgData name="Sayem, Ahmad Sayeed" userId="952e2f6b-3595-4e7a-92b7-2a70dcd1038f" providerId="ADAL" clId="{E25A74E2-A083-48AA-A385-426F3B748287}" dt="2026-10-12T18:31:20.972" v="21" actId="931"/>
          <ac:picMkLst>
            <pc:docMk/>
            <pc:sldMk cId="1507028120" sldId="268"/>
            <ac:picMk id="3" creationId="{FC2F8FFD-1782-C5A4-A6FA-87B92F5B2203}"/>
          </ac:picMkLst>
        </pc:picChg>
      </pc:sldChg>
      <pc:sldChg chg="addSp modSp new mod">
        <pc:chgData name="Sayem, Ahmad Sayeed" userId="952e2f6b-3595-4e7a-92b7-2a70dcd1038f" providerId="ADAL" clId="{E25A74E2-A083-48AA-A385-426F3B748287}" dt="2026-10-12T18:41:12.136" v="71" actId="14100"/>
        <pc:sldMkLst>
          <pc:docMk/>
          <pc:sldMk cId="3940948179" sldId="269"/>
        </pc:sldMkLst>
        <pc:picChg chg="add mod">
          <ac:chgData name="Sayem, Ahmad Sayeed" userId="952e2f6b-3595-4e7a-92b7-2a70dcd1038f" providerId="ADAL" clId="{E25A74E2-A083-48AA-A385-426F3B748287}" dt="2026-10-12T18:41:12.136" v="71" actId="14100"/>
          <ac:picMkLst>
            <pc:docMk/>
            <pc:sldMk cId="3940948179" sldId="269"/>
            <ac:picMk id="3" creationId="{F61FE579-E662-3DE9-996F-2CA8A915B0B1}"/>
          </ac:picMkLst>
        </pc:picChg>
        <pc:picChg chg="add mod">
          <ac:chgData name="Sayem, Ahmad Sayeed" userId="952e2f6b-3595-4e7a-92b7-2a70dcd1038f" providerId="ADAL" clId="{E25A74E2-A083-48AA-A385-426F3B748287}" dt="2026-10-12T18:41:02.495" v="69" actId="14100"/>
          <ac:picMkLst>
            <pc:docMk/>
            <pc:sldMk cId="3940948179" sldId="269"/>
            <ac:picMk id="5" creationId="{C267EA2C-DFDF-1F58-B9E1-BFF68A4D991F}"/>
          </ac:picMkLst>
        </pc:picChg>
        <pc:picChg chg="add mod">
          <ac:chgData name="Sayem, Ahmad Sayeed" userId="952e2f6b-3595-4e7a-92b7-2a70dcd1038f" providerId="ADAL" clId="{E25A74E2-A083-48AA-A385-426F3B748287}" dt="2026-10-12T18:40:56.916" v="67" actId="14100"/>
          <ac:picMkLst>
            <pc:docMk/>
            <pc:sldMk cId="3940948179" sldId="269"/>
            <ac:picMk id="7" creationId="{8EEF4E6B-C1E3-5C51-C84C-8E8E9D1D205C}"/>
          </ac:picMkLst>
        </pc:picChg>
        <pc:picChg chg="add mod">
          <ac:chgData name="Sayem, Ahmad Sayeed" userId="952e2f6b-3595-4e7a-92b7-2a70dcd1038f" providerId="ADAL" clId="{E25A74E2-A083-48AA-A385-426F3B748287}" dt="2026-10-12T18:40:36.120" v="59" actId="14100"/>
          <ac:picMkLst>
            <pc:docMk/>
            <pc:sldMk cId="3940948179" sldId="269"/>
            <ac:picMk id="9" creationId="{55DB5133-978C-4048-7283-3C64C37554F8}"/>
          </ac:picMkLst>
        </pc:picChg>
        <pc:picChg chg="add mod">
          <ac:chgData name="Sayem, Ahmad Sayeed" userId="952e2f6b-3595-4e7a-92b7-2a70dcd1038f" providerId="ADAL" clId="{E25A74E2-A083-48AA-A385-426F3B748287}" dt="2026-10-12T18:40:27.680" v="57" actId="14100"/>
          <ac:picMkLst>
            <pc:docMk/>
            <pc:sldMk cId="3940948179" sldId="269"/>
            <ac:picMk id="11" creationId="{57E82996-812A-A734-D598-F15F2C86598A}"/>
          </ac:picMkLst>
        </pc:picChg>
        <pc:picChg chg="add mod">
          <ac:chgData name="Sayem, Ahmad Sayeed" userId="952e2f6b-3595-4e7a-92b7-2a70dcd1038f" providerId="ADAL" clId="{E25A74E2-A083-48AA-A385-426F3B748287}" dt="2026-10-12T18:40:20.948" v="55" actId="14100"/>
          <ac:picMkLst>
            <pc:docMk/>
            <pc:sldMk cId="3940948179" sldId="269"/>
            <ac:picMk id="13" creationId="{39914952-27BB-1F4A-0834-E9950F6403FE}"/>
          </ac:picMkLst>
        </pc:picChg>
      </pc:sldChg>
      <pc:sldChg chg="addSp modSp new mod">
        <pc:chgData name="Sayem, Ahmad Sayeed" userId="952e2f6b-3595-4e7a-92b7-2a70dcd1038f" providerId="ADAL" clId="{E25A74E2-A083-48AA-A385-426F3B748287}" dt="2026-10-12T18:50:46.315" v="90" actId="20577"/>
        <pc:sldMkLst>
          <pc:docMk/>
          <pc:sldMk cId="1229173468" sldId="270"/>
        </pc:sldMkLst>
        <pc:spChg chg="add mod">
          <ac:chgData name="Sayem, Ahmad Sayeed" userId="952e2f6b-3595-4e7a-92b7-2a70dcd1038f" providerId="ADAL" clId="{E25A74E2-A083-48AA-A385-426F3B748287}" dt="2026-10-12T18:50:46.315" v="90" actId="20577"/>
          <ac:spMkLst>
            <pc:docMk/>
            <pc:sldMk cId="1229173468" sldId="270"/>
            <ac:spMk id="5" creationId="{948886F4-1FBC-F5D7-EB69-03D33E6149AD}"/>
          </ac:spMkLst>
        </pc:spChg>
        <pc:picChg chg="add mod">
          <ac:chgData name="Sayem, Ahmad Sayeed" userId="952e2f6b-3595-4e7a-92b7-2a70dcd1038f" providerId="ADAL" clId="{E25A74E2-A083-48AA-A385-426F3B748287}" dt="2026-10-12T18:44:21.843" v="74" actId="1076"/>
          <ac:picMkLst>
            <pc:docMk/>
            <pc:sldMk cId="1229173468" sldId="270"/>
            <ac:picMk id="3" creationId="{403FC376-8D70-7EEE-C868-3085A84DEDF7}"/>
          </ac:picMkLst>
        </pc:picChg>
      </pc:sldChg>
      <pc:sldChg chg="addSp modSp new mod">
        <pc:chgData name="Sayem, Ahmad Sayeed" userId="952e2f6b-3595-4e7a-92b7-2a70dcd1038f" providerId="ADAL" clId="{E25A74E2-A083-48AA-A385-426F3B748287}" dt="2026-10-12T18:51:08.277" v="113" actId="20577"/>
        <pc:sldMkLst>
          <pc:docMk/>
          <pc:sldMk cId="4150427180" sldId="271"/>
        </pc:sldMkLst>
        <pc:spChg chg="add mod">
          <ac:chgData name="Sayem, Ahmad Sayeed" userId="952e2f6b-3595-4e7a-92b7-2a70dcd1038f" providerId="ADAL" clId="{E25A74E2-A083-48AA-A385-426F3B748287}" dt="2026-10-12T18:51:08.277" v="113" actId="20577"/>
          <ac:spMkLst>
            <pc:docMk/>
            <pc:sldMk cId="4150427180" sldId="271"/>
            <ac:spMk id="3" creationId="{C326221C-3B3B-1EC2-8D9E-14803DE39C67}"/>
          </ac:spMkLst>
        </pc:spChg>
        <pc:picChg chg="add mod">
          <ac:chgData name="Sayem, Ahmad Sayeed" userId="952e2f6b-3595-4e7a-92b7-2a70dcd1038f" providerId="ADAL" clId="{E25A74E2-A083-48AA-A385-426F3B748287}" dt="2026-10-12T18:50:57.520" v="94" actId="1076"/>
          <ac:picMkLst>
            <pc:docMk/>
            <pc:sldMk cId="4150427180" sldId="271"/>
            <ac:picMk id="5" creationId="{2E446228-6333-0B4C-64B4-17090657144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4A9C18-165E-43D2-9304-C6033E0418D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462936-FFEA-4F81-920B-A82E00107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50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62936-FFEA-4F81-920B-A82E00107B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94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3984937" cy="58477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400" b="1">
                <a:solidFill>
                  <a:srgbClr val="162A44"/>
                </a:solidFill>
              </a:defRPr>
            </a:pPr>
            <a:r>
              <a:rPr lang="en-US" sz="3200" b="1" err="1"/>
              <a:t>Kirchhoffnet</a:t>
            </a:r>
            <a:r>
              <a:rPr lang="en-US" sz="3200" b="1"/>
              <a:t> </a:t>
            </a:r>
            <a:r>
              <a:rPr lang="en-US" sz="3200"/>
              <a:t>Structure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D7A"/>
                </a:solidFill>
              </a:defRPr>
            </a:pPr>
            <a:r>
              <a:t>A visual walkthrough of the closed-loop ring architecture and training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41148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62A44"/>
                </a:solidFill>
              </a:defRPr>
            </a:pPr>
            <a:r>
              <a:t>This system uses a simulated analog circuit as a nonlinear feature extractor for toy-data classification.</a:t>
            </a:r>
          </a:p>
          <a:p>
            <a:pPr>
              <a:defRPr sz="1600">
                <a:solidFill>
                  <a:srgbClr val="5D6D7A"/>
                </a:solidFill>
              </a:defRPr>
            </a:pPr>
            <a:r>
              <a:rPr dirty="0"/>
              <a:t>A 2D input is encoded into the initial state of a 10-stage closed-loop ring, the ring evolves for 100 ns, and the resulting node voltages are used to train a </a:t>
            </a:r>
            <a:r>
              <a:rPr dirty="0" err="1"/>
              <a:t>softmax</a:t>
            </a:r>
            <a:r>
              <a:rPr dirty="0"/>
              <a:t> readout.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A44"/>
                </a:solidFill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D7A"/>
                </a:solidFill>
              </a:defRPr>
            </a:pPr>
            <a:r>
              <a:t>From raw input to class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554480" cy="914400"/>
          </a:xfrm>
          <a:prstGeom prst="roundRect">
            <a:avLst/>
          </a:prstGeom>
          <a:solidFill>
            <a:srgbClr val="E8F3FF"/>
          </a:solidFill>
          <a:ln w="1905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62A44"/>
                </a:solidFill>
              </a:defRPr>
            </a:pPr>
            <a:r>
              <a:t>2D input</a:t>
            </a:r>
            <a:br/>
            <a:r>
              <a:t>(x, 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554480"/>
            <a:ext cx="1828800" cy="914400"/>
          </a:xfrm>
          <a:prstGeom prst="roundRect">
            <a:avLst/>
          </a:prstGeom>
          <a:solidFill>
            <a:srgbClr val="E8F3FF"/>
          </a:solidFill>
          <a:ln w="1905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62A44"/>
                </a:solidFill>
              </a:defRPr>
            </a:pPr>
            <a:r>
              <a:t>Encoder</a:t>
            </a:r>
            <a:br/>
            <a:r>
              <a:t>2 -&gt; 10 seeds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554480"/>
            <a:ext cx="2377440" cy="914400"/>
          </a:xfrm>
          <a:prstGeom prst="roundRect">
            <a:avLst/>
          </a:prstGeom>
          <a:solidFill>
            <a:srgbClr val="F7F0E8"/>
          </a:solidFill>
          <a:ln w="1905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62A44"/>
                </a:solidFill>
              </a:defRPr>
            </a:pPr>
            <a:r>
              <a:t>Closed-loop</a:t>
            </a:r>
            <a:br/>
            <a:r>
              <a:t>10-stage 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554480"/>
            <a:ext cx="1828800" cy="914400"/>
          </a:xfrm>
          <a:prstGeom prst="roundRect">
            <a:avLst/>
          </a:prstGeom>
          <a:solidFill>
            <a:srgbClr val="E8F9EC"/>
          </a:solidFill>
          <a:ln w="1905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62A44"/>
                </a:solidFill>
              </a:defRPr>
            </a:pPr>
            <a:r>
              <a:t>Readout</a:t>
            </a:r>
            <a:br/>
            <a:r>
              <a:t>10 -&gt; 2 scores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554480"/>
            <a:ext cx="1737360" cy="914400"/>
          </a:xfrm>
          <a:prstGeom prst="roundRect">
            <a:avLst/>
          </a:prstGeom>
          <a:solidFill>
            <a:srgbClr val="FEF6E8"/>
          </a:solidFill>
          <a:ln w="1905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62A44"/>
                </a:solidFill>
              </a:defRPr>
            </a:pPr>
            <a:r>
              <a:t>Softmax</a:t>
            </a:r>
            <a:br/>
            <a:r>
              <a:t>probabilities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2011680"/>
            <a:ext cx="274320" cy="0"/>
          </a:xfrm>
          <a:prstGeom prst="line">
            <a:avLst/>
          </a:prstGeom>
          <a:ln w="25400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2011680"/>
            <a:ext cx="365760" cy="0"/>
          </a:xfrm>
          <a:prstGeom prst="line">
            <a:avLst/>
          </a:prstGeom>
          <a:ln w="25400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32320" y="2011680"/>
            <a:ext cx="365759" cy="0"/>
          </a:xfrm>
          <a:prstGeom prst="line">
            <a:avLst/>
          </a:prstGeom>
          <a:ln w="25400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26880" y="2011680"/>
            <a:ext cx="457200" cy="0"/>
          </a:xfrm>
          <a:prstGeom prst="line">
            <a:avLst/>
          </a:prstGeom>
          <a:ln w="25400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434080"/>
            <a:ext cx="5303520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162A44"/>
                </a:solidFill>
              </a:defRPr>
            </a:pPr>
            <a:r>
              <a:t>The input is a point in 2D space.</a:t>
            </a:r>
            <a:r>
              <a:rPr lang="en-US"/>
              <a:t> ( </a:t>
            </a:r>
            <a:r>
              <a:rPr lang="en-US" err="1"/>
              <a:t>twomoon</a:t>
            </a:r>
            <a:r>
              <a:rPr lang="en-US"/>
              <a:t>, circle, spiral)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162A44"/>
                </a:solidFill>
              </a:defRPr>
            </a:pPr>
            <a:r>
              <a:t>The encoder maps it into 10 initial voltages for the circuit.</a:t>
            </a:r>
            <a:endParaRPr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162A44"/>
                </a:solidFill>
              </a:defRPr>
            </a:pPr>
            <a:r>
              <a:t>The ring acts as the hidden nonlinear feature extractor.</a:t>
            </a:r>
            <a:endParaRPr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162A44"/>
                </a:solidFill>
              </a:defRPr>
            </a:pPr>
            <a:r>
              <a:t>The final readout converts the circuit state into class scores.</a:t>
            </a:r>
            <a:endParaRPr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87C0AE-402B-7625-D49D-83D9105AF8E4}"/>
              </a:ext>
            </a:extLst>
          </p:cNvPr>
          <p:cNvSpPr txBox="1"/>
          <p:nvPr/>
        </p:nvSpPr>
        <p:spPr>
          <a:xfrm>
            <a:off x="7253468" y="2558004"/>
            <a:ext cx="2743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i="1">
                <a:ea typeface="Calibri"/>
                <a:cs typeface="Calibri"/>
              </a:rPr>
              <a:t>Simulator generated portion</a:t>
            </a:r>
            <a:endParaRPr lang="en-US" sz="1600"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93693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400" b="1">
                <a:solidFill>
                  <a:srgbClr val="162A44"/>
                </a:solidFill>
              </a:defRPr>
            </a:pPr>
            <a:r>
              <a:t>2D Input Becomes 10 Initial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D7A"/>
                </a:solidFill>
              </a:defRPr>
            </a:pPr>
            <a:r>
              <a:t>A simple linear encoding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62A44"/>
                </a:solidFill>
              </a:defRPr>
            </a:pPr>
            <a:r>
              <a:t>Input: x = [x1, x2]</a:t>
            </a:r>
          </a:p>
          <a:p>
            <a:pPr>
              <a:defRPr sz="1600">
                <a:solidFill>
                  <a:srgbClr val="162A44"/>
                </a:solidFill>
              </a:defRPr>
            </a:pPr>
            <a:r>
              <a:t>For each node j: s_j = 1.65 + Wj1*x1 + Wj2*x2 + bj</a:t>
            </a:r>
          </a:p>
          <a:p>
            <a:pPr>
              <a:defRPr sz="1600">
                <a:solidFill>
                  <a:srgbClr val="162A44"/>
                </a:solidFill>
              </a:defRPr>
            </a:pPr>
            <a:r>
              <a:t>The result is clipped to a safe voltage range [0.3, 3.0].</a:t>
            </a:r>
          </a:p>
          <a:p>
            <a:pPr>
              <a:defRPr sz="1600">
                <a:solidFill>
                  <a:srgbClr val="162A44"/>
                </a:solidFill>
              </a:defRPr>
            </a:pPr>
            <a:r>
              <a:t>This creates 10 initial voltages: [s1, s2, ..., s10].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1463040"/>
            <a:ext cx="6217920" cy="40233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62A44"/>
                </a:solidFill>
              </a:defRPr>
            </a:pPr>
            <a:r>
              <a:t>Example:</a:t>
            </a:r>
          </a:p>
          <a:p>
            <a:pPr>
              <a:defRPr sz="1600" b="0">
                <a:solidFill>
                  <a:srgbClr val="162A44"/>
                </a:solidFill>
              </a:defRPr>
            </a:pPr>
            <a:r>
              <a:t>x = [1, -1]</a:t>
            </a:r>
          </a:p>
          <a:p>
            <a:pPr>
              <a:defRPr sz="1600" b="0">
                <a:solidFill>
                  <a:srgbClr val="162A44"/>
                </a:solidFill>
              </a:defRPr>
            </a:pPr>
            <a:r>
              <a:t>s1 = 1.65 + 0.4*1 + 0.2*(-1) + 0.05</a:t>
            </a:r>
          </a:p>
          <a:p>
            <a:pPr>
              <a:defRPr sz="1600" b="0">
                <a:solidFill>
                  <a:srgbClr val="162A44"/>
                </a:solidFill>
              </a:defRPr>
            </a:pPr>
            <a:r>
              <a:t>s2 = 1.65 - 0.3*1 + 0.6*(-1) + 0.02</a:t>
            </a:r>
          </a:p>
          <a:p>
            <a:pPr>
              <a:defRPr sz="1600" b="0">
                <a:solidFill>
                  <a:srgbClr val="162A44"/>
                </a:solidFill>
              </a:defRPr>
            </a:pPr>
            <a:r>
              <a:t>s3 = 1.65 + 0.1*1 - 0.4*(-1) + 0.03</a:t>
            </a:r>
          </a:p>
          <a:p>
            <a:pPr>
              <a:defRPr sz="1600" b="0">
                <a:solidFill>
                  <a:srgbClr val="162A44"/>
                </a:solidFill>
              </a:defRPr>
            </a:pPr>
            <a:r>
              <a:t>...</a:t>
            </a:r>
          </a:p>
          <a:p>
            <a:pPr>
              <a:defRPr sz="1600" b="0">
                <a:solidFill>
                  <a:srgbClr val="162A44"/>
                </a:solidFill>
              </a:defRPr>
            </a:pPr>
            <a:r>
              <a:t>=&gt; [s1, s2, ..., s10]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A44"/>
                </a:solidFill>
              </a:defRPr>
            </a:pPr>
            <a:r>
              <a:t>The Closed-Loop Ring as a Hidden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D7A"/>
                </a:solidFill>
              </a:defRPr>
            </a:pPr>
            <a:r>
              <a:t>The circuit evolves from the initial state and produces a richer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4206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62A44"/>
                </a:solidFill>
              </a:defRPr>
            </a:pPr>
            <a:r>
              <a:t>The circuit has 10 stages arranged in a loop.</a:t>
            </a:r>
          </a:p>
          <a:p>
            <a:pPr>
              <a:defRPr sz="1600">
                <a:solidFill>
                  <a:srgbClr val="162A44"/>
                </a:solidFill>
              </a:defRPr>
            </a:pPr>
            <a:r>
              <a:t>Each stage has a signal path, a bias, and a reference.</a:t>
            </a:r>
          </a:p>
          <a:p>
            <a:pPr>
              <a:defRPr sz="1600">
                <a:solidFill>
                  <a:srgbClr val="162A44"/>
                </a:solidFill>
              </a:defRPr>
            </a:pPr>
            <a:r>
              <a:t>The ring evolves for 100 ns from the initial seeds.</a:t>
            </a:r>
          </a:p>
          <a:p>
            <a:pPr>
              <a:defRPr sz="1600">
                <a:solidFill>
                  <a:srgbClr val="162A44"/>
                </a:solidFill>
              </a:defRPr>
            </a:pPr>
            <a:r>
              <a:t>The values at h1...h10 are read out as the feature vector.</a:t>
            </a:r>
          </a:p>
        </p:txBody>
      </p:sp>
      <p:sp>
        <p:nvSpPr>
          <p:cNvPr id="6" name="Oval 5"/>
          <p:cNvSpPr/>
          <p:nvPr/>
        </p:nvSpPr>
        <p:spPr>
          <a:xfrm>
            <a:off x="9333053" y="2204592"/>
            <a:ext cx="320040" cy="320040"/>
          </a:xfrm>
          <a:prstGeom prst="ellipse">
            <a:avLst/>
          </a:prstGeom>
          <a:solidFill>
            <a:srgbClr val="2A78D6"/>
          </a:solidFill>
          <a:ln w="1524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23325" y="24972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A44"/>
                </a:solidFill>
              </a:defRPr>
            </a:pPr>
            <a:r>
              <a:t>h1</a:t>
            </a:r>
          </a:p>
        </p:txBody>
      </p:sp>
      <p:sp>
        <p:nvSpPr>
          <p:cNvPr id="8" name="Oval 7"/>
          <p:cNvSpPr/>
          <p:nvPr/>
        </p:nvSpPr>
        <p:spPr>
          <a:xfrm>
            <a:off x="9640168" y="2869364"/>
            <a:ext cx="320040" cy="320040"/>
          </a:xfrm>
          <a:prstGeom prst="ellipse">
            <a:avLst/>
          </a:prstGeom>
          <a:solidFill>
            <a:srgbClr val="2A78D6"/>
          </a:solidFill>
          <a:ln w="1524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30440" y="316197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A44"/>
                </a:solidFill>
              </a:defRPr>
            </a:pPr>
            <a:r>
              <a:t>h2</a:t>
            </a:r>
          </a:p>
        </p:txBody>
      </p:sp>
      <p:sp>
        <p:nvSpPr>
          <p:cNvPr id="10" name="Oval 9"/>
          <p:cNvSpPr/>
          <p:nvPr/>
        </p:nvSpPr>
        <p:spPr>
          <a:xfrm>
            <a:off x="9649428" y="3629821"/>
            <a:ext cx="320040" cy="320040"/>
          </a:xfrm>
          <a:prstGeom prst="ellipse">
            <a:avLst/>
          </a:prstGeom>
          <a:solidFill>
            <a:srgbClr val="2A78D6"/>
          </a:solidFill>
          <a:ln w="1524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39700" y="3922429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A44"/>
                </a:solidFill>
              </a:defRPr>
            </a:pPr>
            <a:r>
              <a:t>h3</a:t>
            </a:r>
          </a:p>
        </p:txBody>
      </p:sp>
      <p:sp>
        <p:nvSpPr>
          <p:cNvPr id="12" name="Oval 11"/>
          <p:cNvSpPr/>
          <p:nvPr/>
        </p:nvSpPr>
        <p:spPr>
          <a:xfrm>
            <a:off x="9192228" y="4361341"/>
            <a:ext cx="320040" cy="320040"/>
          </a:xfrm>
          <a:prstGeom prst="ellipse">
            <a:avLst/>
          </a:prstGeom>
          <a:solidFill>
            <a:srgbClr val="2A78D6"/>
          </a:solidFill>
          <a:ln w="1524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82500" y="4653949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A44"/>
                </a:solidFill>
              </a:defRPr>
            </a:pPr>
            <a:r>
              <a:t>h4</a:t>
            </a:r>
          </a:p>
        </p:txBody>
      </p:sp>
      <p:sp>
        <p:nvSpPr>
          <p:cNvPr id="14" name="Oval 13"/>
          <p:cNvSpPr/>
          <p:nvPr/>
        </p:nvSpPr>
        <p:spPr>
          <a:xfrm>
            <a:off x="8277828" y="4544221"/>
            <a:ext cx="320040" cy="320040"/>
          </a:xfrm>
          <a:prstGeom prst="ellipse">
            <a:avLst/>
          </a:prstGeom>
          <a:solidFill>
            <a:srgbClr val="2A78D6"/>
          </a:solidFill>
          <a:ln w="1524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68100" y="4836829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A44"/>
                </a:solidFill>
              </a:defRPr>
            </a:pPr>
            <a:r>
              <a:t>h5</a:t>
            </a:r>
          </a:p>
        </p:txBody>
      </p:sp>
      <p:sp>
        <p:nvSpPr>
          <p:cNvPr id="16" name="Oval 15"/>
          <p:cNvSpPr/>
          <p:nvPr/>
        </p:nvSpPr>
        <p:spPr>
          <a:xfrm>
            <a:off x="7546308" y="3995581"/>
            <a:ext cx="320040" cy="320040"/>
          </a:xfrm>
          <a:prstGeom prst="ellipse">
            <a:avLst/>
          </a:prstGeom>
          <a:solidFill>
            <a:srgbClr val="2A78D6"/>
          </a:solidFill>
          <a:ln w="1524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36580" y="4288189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A44"/>
                </a:solidFill>
              </a:defRPr>
            </a:pPr>
            <a:r>
              <a:t>h6</a:t>
            </a:r>
          </a:p>
        </p:txBody>
      </p:sp>
      <p:sp>
        <p:nvSpPr>
          <p:cNvPr id="18" name="Oval 17"/>
          <p:cNvSpPr/>
          <p:nvPr/>
        </p:nvSpPr>
        <p:spPr>
          <a:xfrm>
            <a:off x="7180548" y="3172621"/>
            <a:ext cx="320040" cy="320040"/>
          </a:xfrm>
          <a:prstGeom prst="ellipse">
            <a:avLst/>
          </a:prstGeom>
          <a:solidFill>
            <a:srgbClr val="2A78D6"/>
          </a:solidFill>
          <a:ln w="1524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70820" y="3465229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A44"/>
                </a:solidFill>
              </a:defRPr>
            </a:pPr>
            <a:r>
              <a:t>h7</a:t>
            </a:r>
          </a:p>
        </p:txBody>
      </p:sp>
      <p:sp>
        <p:nvSpPr>
          <p:cNvPr id="20" name="Oval 19"/>
          <p:cNvSpPr/>
          <p:nvPr/>
        </p:nvSpPr>
        <p:spPr>
          <a:xfrm>
            <a:off x="7271988" y="2349661"/>
            <a:ext cx="320040" cy="320040"/>
          </a:xfrm>
          <a:prstGeom prst="ellipse">
            <a:avLst/>
          </a:prstGeom>
          <a:solidFill>
            <a:srgbClr val="2A78D6"/>
          </a:solidFill>
          <a:ln w="1524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62260" y="2642269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A44"/>
                </a:solidFill>
              </a:defRPr>
            </a:pPr>
            <a:r>
              <a:t>h8</a:t>
            </a:r>
          </a:p>
        </p:txBody>
      </p:sp>
      <p:sp>
        <p:nvSpPr>
          <p:cNvPr id="22" name="Oval 21"/>
          <p:cNvSpPr/>
          <p:nvPr/>
        </p:nvSpPr>
        <p:spPr>
          <a:xfrm>
            <a:off x="7912068" y="1801021"/>
            <a:ext cx="320040" cy="320040"/>
          </a:xfrm>
          <a:prstGeom prst="ellipse">
            <a:avLst/>
          </a:prstGeom>
          <a:solidFill>
            <a:srgbClr val="2A78D6"/>
          </a:solidFill>
          <a:ln w="1524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02340" y="2093629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A44"/>
                </a:solidFill>
              </a:defRPr>
            </a:pPr>
            <a:r>
              <a:t>h9</a:t>
            </a:r>
          </a:p>
        </p:txBody>
      </p:sp>
      <p:sp>
        <p:nvSpPr>
          <p:cNvPr id="24" name="Oval 23"/>
          <p:cNvSpPr/>
          <p:nvPr/>
        </p:nvSpPr>
        <p:spPr>
          <a:xfrm>
            <a:off x="8715737" y="1699550"/>
            <a:ext cx="320040" cy="320040"/>
          </a:xfrm>
          <a:prstGeom prst="ellipse">
            <a:avLst/>
          </a:prstGeom>
          <a:solidFill>
            <a:srgbClr val="2A78D6"/>
          </a:solidFill>
          <a:ln w="1524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06009" y="199215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62A44"/>
                </a:solidFill>
              </a:defRPr>
            </a:pPr>
            <a:r>
              <a:t>h10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56DDE5-E4C2-9F4E-8193-B6A3B6009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782" y="56246"/>
            <a:ext cx="5780589" cy="65815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29268-882B-E4A9-D267-4C4337EFDB25}"/>
              </a:ext>
            </a:extLst>
          </p:cNvPr>
          <p:cNvSpPr txBox="1"/>
          <p:nvPr/>
        </p:nvSpPr>
        <p:spPr>
          <a:xfrm>
            <a:off x="1483489" y="2974693"/>
            <a:ext cx="27431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Calibri"/>
                <a:cs typeface="Calibri"/>
              </a:rPr>
              <a:t>Sensitivity Values</a:t>
            </a:r>
            <a:endParaRPr lang="en-US" sz="4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4449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6449651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400" b="1">
                <a:solidFill>
                  <a:srgbClr val="162A44"/>
                </a:solidFill>
              </a:defRPr>
            </a:pPr>
            <a:r>
              <a:t>From Circuit State to Classification</a:t>
            </a:r>
            <a:r>
              <a:rPr lang="en-US"/>
              <a:t> Using </a:t>
            </a:r>
            <a:r>
              <a:rPr lang="en-US" err="1"/>
              <a:t>Softmax</a:t>
            </a:r>
            <a:endParaRPr err="1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D7A"/>
                </a:solidFill>
              </a:defRPr>
            </a:pPr>
            <a:r>
              <a:t>The 10 node voltages become 2 class 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62A44"/>
                </a:solidFill>
              </a:defRPr>
            </a:pPr>
            <a:r>
              <a:t>The final state is a 10-dimensional feature vector: [h1, h2, ..., h10].</a:t>
            </a:r>
          </a:p>
          <a:p>
            <a:pPr>
              <a:defRPr sz="1600">
                <a:solidFill>
                  <a:srgbClr val="162A44"/>
                </a:solidFill>
              </a:defRPr>
            </a:pPr>
            <a:r>
              <a:t>These values are standardized and passed to a linear readout.</a:t>
            </a:r>
          </a:p>
          <a:p>
            <a:pPr>
              <a:defRPr sz="1600">
                <a:solidFill>
                  <a:srgbClr val="162A44"/>
                </a:solidFill>
              </a:defRPr>
            </a:pPr>
            <a:r>
              <a:t>The readout outputs two scores: score0 and score1.</a:t>
            </a:r>
          </a:p>
          <a:p>
            <a:pPr>
              <a:defRPr sz="1600">
                <a:solidFill>
                  <a:srgbClr val="162A44"/>
                </a:solidFill>
              </a:defRPr>
            </a:pPr>
            <a:r>
              <a:t>Softmax converts those scores to class probabilities.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1554480"/>
            <a:ext cx="6217920" cy="3108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162A44"/>
                </a:solidFill>
              </a:defRPr>
            </a:pPr>
            <a:r>
              <a:t>score0 = w0,1*h1 + ... + w0,10*h10 + b0</a:t>
            </a:r>
          </a:p>
          <a:p>
            <a:pPr>
              <a:defRPr sz="1600">
                <a:solidFill>
                  <a:srgbClr val="162A44"/>
                </a:solidFill>
              </a:defRPr>
            </a:pPr>
            <a:r>
              <a:t>score1 = w1,1*h1 + ... + w1,10*h10 + b1</a:t>
            </a:r>
          </a:p>
          <a:p>
            <a:pPr>
              <a:defRPr sz="1600">
                <a:solidFill>
                  <a:srgbClr val="162A44"/>
                </a:solidFill>
              </a:defRPr>
            </a:pPr>
            <a:r>
              <a:t>P(class 0) = exp(score0) / (exp(score0) + exp(score1))</a:t>
            </a:r>
          </a:p>
          <a:p>
            <a:pPr>
              <a:defRPr sz="1600">
                <a:solidFill>
                  <a:srgbClr val="162A44"/>
                </a:solidFill>
              </a:defRPr>
            </a:pPr>
            <a:r>
              <a:t>P(class 1) = exp(score1) / (exp(score0) + exp(score1))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A44"/>
                </a:solidFill>
              </a:defRPr>
            </a:pPr>
            <a:r>
              <a:t>Training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D7A"/>
                </a:solidFill>
              </a:defRPr>
            </a:pPr>
            <a:r>
              <a:t>How the model learns from the circuit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62A44"/>
                </a:solidFill>
              </a:defRPr>
            </a:pPr>
            <a:r>
              <a:t>1. Write a SPICE netlist for the current circuit parameters.</a:t>
            </a:r>
          </a:p>
          <a:p>
            <a:pPr>
              <a:defRPr sz="1600">
                <a:solidFill>
                  <a:srgbClr val="162A44"/>
                </a:solidFill>
              </a:defRPr>
            </a:pPr>
            <a:r>
              <a:t>2. Simulate the ring and record the node values at 100 ns.</a:t>
            </a:r>
          </a:p>
          <a:p>
            <a:pPr>
              <a:defRPr sz="1600">
                <a:solidFill>
                  <a:srgbClr val="162A44"/>
                </a:solidFill>
              </a:defRPr>
            </a:pPr>
            <a:r>
              <a:t>3. Compute the readout loss and the circuit loss.</a:t>
            </a:r>
          </a:p>
          <a:p>
            <a:pPr>
              <a:defRPr sz="1600">
                <a:solidFill>
                  <a:srgbClr val="162A44"/>
                </a:solidFill>
              </a:defRPr>
            </a:pPr>
            <a:r>
              <a:t>4. Use adjoint sensitivities to update the circuit parameters.</a:t>
            </a:r>
          </a:p>
          <a:p>
            <a:pPr>
              <a:defRPr sz="1600">
                <a:solidFill>
                  <a:srgbClr val="162A44"/>
                </a:solidFill>
              </a:defRPr>
            </a:pPr>
            <a:r>
              <a:t>5. Update the readout weights with ordinary gradient descent.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3108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62A44"/>
                </a:solidFill>
              </a:defRPr>
            </a:pPr>
            <a:r>
              <a:t>Forward pass</a:t>
            </a:r>
          </a:p>
          <a:p>
            <a:pPr>
              <a:defRPr sz="1600" b="0">
                <a:solidFill>
                  <a:srgbClr val="162A44"/>
                </a:solidFill>
              </a:defRPr>
            </a:pPr>
            <a:r>
              <a:t>Simulation -&gt; h1..h10</a:t>
            </a:r>
          </a:p>
          <a:p>
            <a:pPr>
              <a:defRPr sz="1600" b="0">
                <a:solidFill>
                  <a:srgbClr val="162A44"/>
                </a:solidFill>
              </a:defRPr>
            </a:pPr>
            <a:r>
              <a:t>Gradient via adjoint</a:t>
            </a:r>
          </a:p>
          <a:p>
            <a:pPr>
              <a:defRPr sz="1600" b="0">
                <a:solidFill>
                  <a:srgbClr val="162A44"/>
                </a:solidFill>
              </a:defRPr>
            </a:pPr>
            <a:r>
              <a:t>Update circuit + readout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262FBE-8E76-0C4B-D858-4E0052BBC4E0}"/>
              </a:ext>
            </a:extLst>
          </p:cNvPr>
          <p:cNvSpPr txBox="1"/>
          <p:nvPr/>
        </p:nvSpPr>
        <p:spPr>
          <a:xfrm>
            <a:off x="638881" y="670218"/>
            <a:ext cx="10909640" cy="106583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>
                <a:latin typeface="+mj-lt"/>
                <a:ea typeface="+mj-ea"/>
                <a:cs typeface="+mj-cs"/>
              </a:rPr>
              <a:t>Dataset results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4B007-9E75-3565-B9D1-B6BEE1131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79" y="2619784"/>
            <a:ext cx="3744042" cy="36000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CD3B89-9920-2C56-A048-F27183CAE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979" y="2619784"/>
            <a:ext cx="3744042" cy="36000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98E1A9-9DF9-F096-E6EB-86C3908F5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279" y="2619784"/>
            <a:ext cx="3744042" cy="360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877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4C674D-9125-3094-FAEE-279506CE01C5}"/>
              </a:ext>
            </a:extLst>
          </p:cNvPr>
          <p:cNvSpPr/>
          <p:nvPr/>
        </p:nvSpPr>
        <p:spPr>
          <a:xfrm>
            <a:off x="1828799" y="2971800"/>
            <a:ext cx="1666753" cy="66361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Hardware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9796F2-9659-A055-CDB4-EDAEF04F7C6B}"/>
              </a:ext>
            </a:extLst>
          </p:cNvPr>
          <p:cNvSpPr/>
          <p:nvPr/>
        </p:nvSpPr>
        <p:spPr>
          <a:xfrm>
            <a:off x="4490976" y="2971800"/>
            <a:ext cx="1666753" cy="66361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Simulator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5287D5-A4E8-FFEC-F5E6-53CAEC9B7923}"/>
              </a:ext>
            </a:extLst>
          </p:cNvPr>
          <p:cNvSpPr/>
          <p:nvPr/>
        </p:nvSpPr>
        <p:spPr>
          <a:xfrm>
            <a:off x="7162800" y="2971800"/>
            <a:ext cx="1666753" cy="66361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Training Algorithm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AEF7EC-9351-1A30-37B0-D10C23999A38}"/>
              </a:ext>
            </a:extLst>
          </p:cNvPr>
          <p:cNvSpPr txBox="1"/>
          <p:nvPr/>
        </p:nvSpPr>
        <p:spPr>
          <a:xfrm>
            <a:off x="638881" y="670218"/>
            <a:ext cx="10909640" cy="106583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atin typeface="+mj-lt"/>
                <a:ea typeface="+mj-ea"/>
                <a:cs typeface="+mj-cs"/>
              </a:rPr>
              <a:t>Design Constraint</a:t>
            </a:r>
            <a:endParaRPr lang="en-US" sz="1400" b="1" dirty="0">
              <a:ea typeface="+mj-ea"/>
              <a:cs typeface="+mj-cs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EE8C01B-7B10-5380-E038-EEFE61B723AD}"/>
              </a:ext>
            </a:extLst>
          </p:cNvPr>
          <p:cNvSpPr/>
          <p:nvPr/>
        </p:nvSpPr>
        <p:spPr>
          <a:xfrm>
            <a:off x="3484771" y="3167392"/>
            <a:ext cx="1007344" cy="262784"/>
          </a:xfrm>
          <a:prstGeom prst="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6129CD4-7888-A598-E4DD-57177B876E2A}"/>
              </a:ext>
            </a:extLst>
          </p:cNvPr>
          <p:cNvSpPr/>
          <p:nvPr/>
        </p:nvSpPr>
        <p:spPr>
          <a:xfrm>
            <a:off x="6146948" y="3167391"/>
            <a:ext cx="1007344" cy="262784"/>
          </a:xfrm>
          <a:prstGeom prst="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B2CE24-731C-8128-9C4D-3138B446A046}"/>
              </a:ext>
            </a:extLst>
          </p:cNvPr>
          <p:cNvSpPr/>
          <p:nvPr/>
        </p:nvSpPr>
        <p:spPr>
          <a:xfrm>
            <a:off x="9892495" y="2971799"/>
            <a:ext cx="1666753" cy="66361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Inference Model</a:t>
            </a:r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1CF1790-23B1-20D8-A349-01C611708702}"/>
              </a:ext>
            </a:extLst>
          </p:cNvPr>
          <p:cNvSpPr/>
          <p:nvPr/>
        </p:nvSpPr>
        <p:spPr>
          <a:xfrm>
            <a:off x="8818770" y="3167390"/>
            <a:ext cx="1074862" cy="253139"/>
          </a:xfrm>
          <a:prstGeom prst="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F2D9FF-55DF-9442-736E-6ECAD1C46E09}"/>
              </a:ext>
            </a:extLst>
          </p:cNvPr>
          <p:cNvSpPr txBox="1"/>
          <p:nvPr/>
        </p:nvSpPr>
        <p:spPr>
          <a:xfrm>
            <a:off x="3757913" y="3692323"/>
            <a:ext cx="35630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>
                <a:ea typeface="Calibri"/>
                <a:cs typeface="Calibri"/>
              </a:rPr>
              <a:t>Not implementable in hardware</a:t>
            </a:r>
            <a:endParaRPr lang="en-US" i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377E19-4BA8-19C4-7B0C-0220486C7BB7}"/>
              </a:ext>
            </a:extLst>
          </p:cNvPr>
          <p:cNvSpPr/>
          <p:nvPr/>
        </p:nvSpPr>
        <p:spPr>
          <a:xfrm>
            <a:off x="1809507" y="4756230"/>
            <a:ext cx="1666753" cy="66361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Hardware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1FFC47-430D-FFA6-3768-A43CF2A1817E}"/>
              </a:ext>
            </a:extLst>
          </p:cNvPr>
          <p:cNvSpPr/>
          <p:nvPr/>
        </p:nvSpPr>
        <p:spPr>
          <a:xfrm>
            <a:off x="4471684" y="4756230"/>
            <a:ext cx="1666753" cy="66361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Adjoint Circuit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90A53D-03CE-C040-A838-640469D66C52}"/>
              </a:ext>
            </a:extLst>
          </p:cNvPr>
          <p:cNvSpPr/>
          <p:nvPr/>
        </p:nvSpPr>
        <p:spPr>
          <a:xfrm>
            <a:off x="7143508" y="4756230"/>
            <a:ext cx="1666753" cy="66361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Training Algorithm</a:t>
            </a:r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C5ABB2C-49AC-C0DE-D395-0ABA3632BBB9}"/>
              </a:ext>
            </a:extLst>
          </p:cNvPr>
          <p:cNvSpPr/>
          <p:nvPr/>
        </p:nvSpPr>
        <p:spPr>
          <a:xfrm>
            <a:off x="3465479" y="4951822"/>
            <a:ext cx="1007344" cy="262784"/>
          </a:xfrm>
          <a:prstGeom prst="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40ADCFA-DF3C-09E4-6AFF-58FC0AC7C1FF}"/>
              </a:ext>
            </a:extLst>
          </p:cNvPr>
          <p:cNvSpPr/>
          <p:nvPr/>
        </p:nvSpPr>
        <p:spPr>
          <a:xfrm>
            <a:off x="6127656" y="4951821"/>
            <a:ext cx="1007344" cy="262784"/>
          </a:xfrm>
          <a:prstGeom prst="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EEA91C-DB45-B09B-3776-9AE773296E46}"/>
              </a:ext>
            </a:extLst>
          </p:cNvPr>
          <p:cNvSpPr/>
          <p:nvPr/>
        </p:nvSpPr>
        <p:spPr>
          <a:xfrm>
            <a:off x="9873203" y="4756229"/>
            <a:ext cx="1666753" cy="66361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Inference Model</a:t>
            </a:r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184ED7E-CB05-65A8-F1F4-8690E1D847C6}"/>
              </a:ext>
            </a:extLst>
          </p:cNvPr>
          <p:cNvSpPr/>
          <p:nvPr/>
        </p:nvSpPr>
        <p:spPr>
          <a:xfrm>
            <a:off x="8799478" y="4951820"/>
            <a:ext cx="1074862" cy="253139"/>
          </a:xfrm>
          <a:prstGeom prst="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79EC7D-433D-E3C0-E1C8-1DD3F84E69F2}"/>
              </a:ext>
            </a:extLst>
          </p:cNvPr>
          <p:cNvSpPr txBox="1"/>
          <p:nvPr/>
        </p:nvSpPr>
        <p:spPr>
          <a:xfrm>
            <a:off x="3970115" y="5476753"/>
            <a:ext cx="295540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>
                <a:ea typeface="Calibri"/>
                <a:cs typeface="Calibri"/>
              </a:rPr>
              <a:t>Implementable in hardware</a:t>
            </a:r>
            <a:endParaRPr lang="en-US" i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633EC1-3917-AB25-BFC0-10E195A329D1}"/>
              </a:ext>
            </a:extLst>
          </p:cNvPr>
          <p:cNvSpPr txBox="1"/>
          <p:nvPr/>
        </p:nvSpPr>
        <p:spPr>
          <a:xfrm>
            <a:off x="1134318" y="2351588"/>
            <a:ext cx="35630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Calibri"/>
                <a:cs typeface="Calibri"/>
              </a:rPr>
              <a:t>Current CAD Model: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F429FC-7697-2FBB-A27A-077ACE4713BC}"/>
              </a:ext>
            </a:extLst>
          </p:cNvPr>
          <p:cNvSpPr txBox="1"/>
          <p:nvPr/>
        </p:nvSpPr>
        <p:spPr>
          <a:xfrm>
            <a:off x="1134317" y="4213182"/>
            <a:ext cx="35630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Calibri"/>
                <a:cs typeface="Calibri"/>
              </a:rPr>
              <a:t>CAD to Hardware Conversion:</a:t>
            </a:r>
          </a:p>
        </p:txBody>
      </p:sp>
    </p:spTree>
    <p:extLst>
      <p:ext uri="{BB962C8B-B14F-4D97-AF65-F5344CB8AC3E}">
        <p14:creationId xmlns:p14="http://schemas.microsoft.com/office/powerpoint/2010/main" val="3391175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22496D-9193-F3D3-E601-502CEEF49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88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2F8FFD-1782-C5A4-A6FA-87B92F5B2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028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3FC376-8D70-7EEE-C868-3085A84DE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55" y="1278325"/>
            <a:ext cx="11212490" cy="47441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8886F4-1FBC-F5D7-EB69-03D33E6149AD}"/>
              </a:ext>
            </a:extLst>
          </p:cNvPr>
          <p:cNvSpPr txBox="1"/>
          <p:nvPr/>
        </p:nvSpPr>
        <p:spPr>
          <a:xfrm>
            <a:off x="641180" y="130722"/>
            <a:ext cx="10909640" cy="106583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atin typeface="+mj-lt"/>
                <a:ea typeface="+mj-ea"/>
                <a:cs typeface="+mj-cs"/>
              </a:rPr>
              <a:t>Crossbar parts</a:t>
            </a:r>
            <a:endParaRPr lang="en-US" sz="1400" b="1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29173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26221C-3B3B-1EC2-8D9E-14803DE39C67}"/>
              </a:ext>
            </a:extLst>
          </p:cNvPr>
          <p:cNvSpPr txBox="1"/>
          <p:nvPr/>
        </p:nvSpPr>
        <p:spPr>
          <a:xfrm>
            <a:off x="638881" y="670218"/>
            <a:ext cx="10909640" cy="106583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atin typeface="+mj-lt"/>
                <a:ea typeface="+mj-ea"/>
                <a:cs typeface="+mj-cs"/>
              </a:rPr>
              <a:t>Digital MLP (2-8-2)</a:t>
            </a:r>
            <a:endParaRPr lang="en-US" sz="1400" b="1" dirty="0"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446228-6333-0B4C-64B4-170906571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880" y="1804665"/>
            <a:ext cx="7287642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427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1FE579-E662-3DE9-996F-2CA8A915B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721" y="4198079"/>
            <a:ext cx="3142221" cy="20990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67EA2C-DFDF-1F58-B9E1-BFF68A4D9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721" y="2099039"/>
            <a:ext cx="3142221" cy="20990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EF4E6B-C1E3-5C51-C84C-8E8E9D1D2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722" y="0"/>
            <a:ext cx="3142220" cy="20990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DB5133-978C-4048-7283-3C64C3755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563" y="4198079"/>
            <a:ext cx="3353977" cy="21034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E82996-812A-A734-D598-F15F2C8659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1564" y="2099040"/>
            <a:ext cx="3142221" cy="20990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914952-27BB-1F4A-0834-E9950F6403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1564" y="0"/>
            <a:ext cx="3142221" cy="209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48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607</Words>
  <Application>Microsoft Office PowerPoint</Application>
  <PresentationFormat>Widescreen</PresentationFormat>
  <Paragraphs>84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Sayem, Ahmad Sayeed</dc:creator>
  <cp:keywords/>
  <dc:description>generated using python-pptx</dc:description>
  <cp:lastModifiedBy>Sayem, Ahmad Sayeed</cp:lastModifiedBy>
  <cp:revision>1</cp:revision>
  <dcterms:created xsi:type="dcterms:W3CDTF">2013-01-27T09:14:16Z</dcterms:created>
  <dcterms:modified xsi:type="dcterms:W3CDTF">2026-10-12T18:51:38Z</dcterms:modified>
  <cp:category/>
</cp:coreProperties>
</file>